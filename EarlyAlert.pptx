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928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2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0"/>
            <a:ext cx="3149600" cy="36576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13520" y="2889504"/>
            <a:ext cx="2997200" cy="36576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heartbe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ML/DL-BASED HEALTH RISK SCREENING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26974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ALERT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40080" y="38862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ML-Based Symptom Evaluation System for Cardiovascular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Neurological Risk Screening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5806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 •  Explainable AI  •  Safety-First  •  Web-Based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Symptoms go unrecognized until it's too late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 and rural populations often lack timely access to doctors, leaving common cardiovascular and neurological symptoms misjudged, ignored, or self-diagnosed — with existing symptom-checkers offering little transparency and almost no local-language support.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EFEC"/>
            </a:solidFill>
            <a:prstDash val="solid"/>
          </a:ln>
          <a:effectLst>
            <a:outerShdw blurRad="127000" dist="38100" dir="5400000" algn="bl" rotWithShape="0">
              <a:srgbClr val="1F3A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68880"/>
            <a:ext cx="685800" cy="685800"/>
          </a:xfrm>
          <a:prstGeom prst="ellipse">
            <a:avLst/>
          </a:prstGeom>
          <a:solidFill>
            <a:srgbClr val="E9F6F4"/>
          </a:solidFill>
          <a:ln/>
        </p:spPr>
      </p:sp>
      <p:pic>
        <p:nvPicPr>
          <p:cNvPr id="7" name="Image 0" descr="icons/heartb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615184"/>
            <a:ext cx="393192" cy="39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514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Cardiovascular Symptoms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737360" y="28620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 • Breathlessness • Palpitations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68680" y="3337560"/>
            <a:ext cx="4709160" cy="502920"/>
          </a:xfrm>
          <a:prstGeom prst="roundRect">
            <a:avLst>
              <a:gd name="adj" fmla="val 14545"/>
            </a:avLst>
          </a:prstGeom>
          <a:solidFill>
            <a:srgbClr val="FDEEEF"/>
          </a:solidFill>
          <a:ln/>
        </p:spPr>
      </p:sp>
      <p:pic>
        <p:nvPicPr>
          <p:cNvPr id="11" name="Image 1" descr="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290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33756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HIGH — can be life-threatening emergencies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68680" y="4023360"/>
            <a:ext cx="4709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ignored, these symptoms may signal an emergency requiring immediate care.</a:t>
            </a:r>
            <a:endParaRPr lang="en-US" sz="16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applies a rule-based safety-override so high-risk combinations always trigger a “seek medical attention” alert, regardless of model confidence.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263640" y="2148840"/>
            <a:ext cx="534924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EFEC"/>
            </a:solidFill>
            <a:prstDash val="solid"/>
          </a:ln>
          <a:effectLst>
            <a:outerShdw blurRad="127000" dist="38100" dir="5400000" algn="bl" rotWithShape="0">
              <a:srgbClr val="1F3A38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0" y="2468880"/>
            <a:ext cx="685800" cy="685800"/>
          </a:xfrm>
          <a:prstGeom prst="ellipse">
            <a:avLst/>
          </a:prstGeom>
          <a:solidFill>
            <a:srgbClr val="E9F6F4"/>
          </a:solidFill>
          <a:ln/>
        </p:spPr>
      </p:sp>
      <p:pic>
        <p:nvPicPr>
          <p:cNvPr id="16" name="Image 2" descr="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2615184"/>
            <a:ext cx="393192" cy="393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52360" y="2514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Neurological Symptoms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7452360" y="28620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Headache • Dizziness • Numbness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583680" y="3337560"/>
            <a:ext cx="4709160" cy="502920"/>
          </a:xfrm>
          <a:prstGeom prst="roundRect">
            <a:avLst>
              <a:gd name="adj" fmla="val 14545"/>
            </a:avLst>
          </a:prstGeom>
          <a:solidFill>
            <a:srgbClr val="FFF3D6"/>
          </a:solidFill>
          <a:ln/>
        </p:spPr>
      </p:sp>
      <p:pic>
        <p:nvPicPr>
          <p:cNvPr id="20" name="Image 3" descr="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342900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32320" y="333756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VARIABLE — frequently misjudged or self-diagnosed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583680" y="4023360"/>
            <a:ext cx="4709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range of causes makes self-assessment unreliable without guidance.</a:t>
            </a:r>
            <a:endParaRPr lang="en-US" sz="16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existing tools give a bare label with no explanation, so users struggle to trust or act on the result.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Alert: an explainable, bilingual triage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75320" y="1417320"/>
            <a:ext cx="3337560" cy="4892040"/>
          </a:xfrm>
          <a:prstGeom prst="roundRect">
            <a:avLst>
              <a:gd name="adj" fmla="val 3836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9464040" y="192024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5208" y="2121408"/>
            <a:ext cx="557784" cy="5577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41080" y="30632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ML/DL models—not just rules—predict probable causes and urgency.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41080" y="4114800"/>
            <a:ext cx="2651760" cy="0"/>
          </a:xfrm>
          <a:prstGeom prst="line">
            <a:avLst/>
          </a:prstGeom>
          <a:noFill/>
          <a:ln w="12700">
            <a:solidFill>
              <a:srgbClr val="5FBDB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41080" y="42976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reasoning in plain language — not a black-box label.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641080" y="5257800"/>
            <a:ext cx="2651760" cy="0"/>
          </a:xfrm>
          <a:prstGeom prst="line">
            <a:avLst/>
          </a:prstGeom>
          <a:noFill/>
          <a:ln w="12700">
            <a:solidFill>
              <a:srgbClr val="5FBDB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41080" y="54406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 users to nearby doctors or clinics as a next step.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E9F6F4"/>
          </a:solidFill>
          <a:ln/>
        </p:spPr>
      </p:sp>
      <p:pic>
        <p:nvPicPr>
          <p:cNvPr id="13" name="Image 1" descr="icons/langu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162763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1481328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Bilingual, picture-guided input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1280160" y="1810512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symptoms visually or describe them in free text — in Hindi or English — so non-English-literate users can participate.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2679192"/>
            <a:ext cx="566928" cy="566928"/>
          </a:xfrm>
          <a:prstGeom prst="ellipse">
            <a:avLst/>
          </a:prstGeom>
          <a:solidFill>
            <a:srgbClr val="E9F6F4"/>
          </a:solidFill>
          <a:ln/>
        </p:spPr>
      </p:sp>
      <p:pic>
        <p:nvPicPr>
          <p:cNvPr id="17" name="Image 2" descr="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2798064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265176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safety override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280160" y="2980944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cardiovascular symptom combinations always trigger an immediate “seek medical attention” recommendation, regardless of model confidence.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48640" y="3849624"/>
            <a:ext cx="566928" cy="566928"/>
          </a:xfrm>
          <a:prstGeom prst="ellipse">
            <a:avLst/>
          </a:prstGeom>
          <a:solidFill>
            <a:srgbClr val="E9F6F4"/>
          </a:solidFill>
          <a:ln/>
        </p:spPr>
      </p:sp>
      <p:pic>
        <p:nvPicPr>
          <p:cNvPr id="21" name="Image 3" descr="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396849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82219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Confidence-scored predictions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280160" y="4151376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two high-impact categories — cardiovascular and neurological — with a severity/urgency rating attached to every result.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548640" y="5020056"/>
            <a:ext cx="566928" cy="566928"/>
          </a:xfrm>
          <a:prstGeom prst="ellipse">
            <a:avLst/>
          </a:prstGeom>
          <a:solidFill>
            <a:srgbClr val="E9F6F4"/>
          </a:solidFill>
          <a:ln/>
        </p:spPr>
      </p:sp>
      <p:pic>
        <p:nvPicPr>
          <p:cNvPr id="25" name="Image 4" descr="icons/m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513892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80160" y="4992624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Nearby care locator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280160" y="5321808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Concludes each session by pointing the user to nearby doctors or clinics via a map-based locator.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is built to 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EFEC"/>
            </a:solidFill>
            <a:prstDash val="solid"/>
          </a:ln>
          <a:effectLst>
            <a:outerShdw blurRad="127000" dist="38100" dir="5400000" algn="bl" rotWithShape="0">
              <a:srgbClr val="1F3A3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4767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8EC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0" y="2057400"/>
            <a:ext cx="658368" cy="658368"/>
          </a:xfrm>
          <a:prstGeom prst="ellipse">
            <a:avLst/>
          </a:prstGeom>
          <a:solidFill>
            <a:srgbClr val="E9F6F4"/>
          </a:solidFill>
          <a:ln/>
        </p:spPr>
      </p:sp>
      <p:pic>
        <p:nvPicPr>
          <p:cNvPr id="7" name="Image 0" descr="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704" y="220370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2004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ML Pipeline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04672" y="393192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ML pipeline to predict probable causes and severity of symptoms from both structured selections and free-text input.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75404" y="178308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EFEC"/>
            </a:solidFill>
            <a:prstDash val="solid"/>
          </a:ln>
          <a:effectLst>
            <a:outerShdw blurRad="127000" dist="38100" dir="5400000" algn="bl" rotWithShape="0">
              <a:srgbClr val="1F3A38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45152" y="194767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8EC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7068312" y="2057400"/>
            <a:ext cx="658368" cy="658368"/>
          </a:xfrm>
          <a:prstGeom prst="ellipse">
            <a:avLst/>
          </a:prstGeom>
          <a:solidFill>
            <a:srgbClr val="E9F6F4"/>
          </a:solidFill>
          <a:ln/>
        </p:spPr>
      </p:sp>
      <p:pic>
        <p:nvPicPr>
          <p:cNvPr id="13" name="Image 1" descr="icons/langu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616" y="2203704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72584" y="32004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NLP Module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672584" y="393192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NLP module that extracts structured symptoms from English/Hindi free text and generates plain-language reasoning.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284464" y="178308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EFEC"/>
            </a:solidFill>
            <a:prstDash val="solid"/>
          </a:ln>
          <a:effectLst>
            <a:outerShdw blurRad="127000" dist="38100" dir="5400000" algn="bl" rotWithShape="0">
              <a:srgbClr val="1F3A38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513064" y="194767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8EC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Shape 14"/>
          <p:cNvSpPr/>
          <p:nvPr/>
        </p:nvSpPr>
        <p:spPr>
          <a:xfrm>
            <a:off x="10936224" y="2057400"/>
            <a:ext cx="658368" cy="658368"/>
          </a:xfrm>
          <a:prstGeom prst="ellipse">
            <a:avLst/>
          </a:prstGeom>
          <a:solidFill>
            <a:srgbClr val="E9F6F4"/>
          </a:solidFill>
          <a:ln/>
        </p:spPr>
      </p:sp>
      <p:pic>
        <p:nvPicPr>
          <p:cNvPr id="19" name="Image 2" descr="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2528" y="2203704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40496" y="32004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Safety-First Override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8540496" y="393192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rule-based safety override that guarantees high-risk cardiovascular patterns are always flagged for medical attention.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TECH STACK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symptoms to an explainable 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41248" y="1645920"/>
            <a:ext cx="0" cy="4279392"/>
          </a:xfrm>
          <a:prstGeom prst="line">
            <a:avLst/>
          </a:prstGeom>
          <a:noFill/>
          <a:ln w="25400">
            <a:solidFill>
              <a:srgbClr val="D8EC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310896" cy="310896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453896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34440" y="1746504"/>
            <a:ext cx="5806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Heart Disease dataset (cardiovascular) + Kaggle Disease Symptom dataset (neurological).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313432"/>
            <a:ext cx="310896" cy="310896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134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2212848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505456"/>
            <a:ext cx="5806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a lightweight neural network predict causes with confidence scores</a:t>
            </a:r>
            <a:r>
              <a:rPr lang="en-US" sz="105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072384"/>
            <a:ext cx="310896" cy="310896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297180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264408"/>
            <a:ext cx="5806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tools power the bilingual (Hindi/English) interface and explanations.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831336"/>
            <a:ext cx="310896" cy="310896"/>
          </a:xfrm>
          <a:prstGeom prst="ellipse">
            <a:avLst/>
          </a:prstGeom>
          <a:solidFill>
            <a:srgbClr val="E639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313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34440" y="3730752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&amp; Safety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4023360"/>
            <a:ext cx="5806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severity classifier is combined with the rule-based safety override</a:t>
            </a:r>
            <a:r>
              <a:rPr lang="en-US" sz="105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4590288"/>
            <a:ext cx="310896" cy="310896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5902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34440" y="4489704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4782312"/>
            <a:ext cx="5806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interface for symptom entry, predictions, explanations, and a clinic locator.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5800" y="5349240"/>
            <a:ext cx="310896" cy="310896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349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34440" y="5248656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34440" y="5541264"/>
            <a:ext cx="5806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and severity metrics, benchmarked against literature</a:t>
            </a:r>
            <a:r>
              <a:rPr lang="en-US" sz="105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09560" y="1508760"/>
            <a:ext cx="3749040" cy="4416552"/>
          </a:xfrm>
          <a:prstGeom prst="roundRect">
            <a:avLst>
              <a:gd name="adj" fmla="val 2927"/>
            </a:avLst>
          </a:prstGeom>
          <a:solidFill>
            <a:srgbClr val="022C3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0" name="Text 28"/>
          <p:cNvSpPr/>
          <p:nvPr/>
        </p:nvSpPr>
        <p:spPr>
          <a:xfrm>
            <a:off x="8229600" y="17647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600" dirty="0"/>
          </a:p>
        </p:txBody>
      </p:sp>
      <p:pic>
        <p:nvPicPr>
          <p:cNvPr id="31" name="Image 0" descr="icons/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286000"/>
            <a:ext cx="329184" cy="32918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686800" y="223113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686800" y="250545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</a:t>
            </a:r>
            <a:endParaRPr lang="en-US" sz="1400" dirty="0"/>
          </a:p>
        </p:txBody>
      </p:sp>
      <p:pic>
        <p:nvPicPr>
          <p:cNvPr id="34" name="Image 1" descr="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944368"/>
            <a:ext cx="329184" cy="329184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8686800" y="28895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/ Django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8686800" y="31638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web framework</a:t>
            </a:r>
            <a:endParaRPr lang="en-US" sz="1400" dirty="0"/>
          </a:p>
        </p:txBody>
      </p:sp>
      <p:pic>
        <p:nvPicPr>
          <p:cNvPr id="37" name="Image 2" descr="icons/m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3602736"/>
            <a:ext cx="329184" cy="329184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8686800" y="35478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Maps API</a:t>
            </a:r>
            <a:endParaRPr lang="en-US" sz="1600" dirty="0"/>
          </a:p>
        </p:txBody>
      </p:sp>
      <p:sp>
        <p:nvSpPr>
          <p:cNvPr id="39" name="Text 34"/>
          <p:cNvSpPr/>
          <p:nvPr/>
        </p:nvSpPr>
        <p:spPr>
          <a:xfrm>
            <a:off x="8686800" y="38221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clinic / doctor locator</a:t>
            </a:r>
            <a:endParaRPr lang="en-US" sz="1400" dirty="0"/>
          </a:p>
        </p:txBody>
      </p:sp>
      <p:pic>
        <p:nvPicPr>
          <p:cNvPr id="40" name="Image 3" descr="icons/languag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261104"/>
            <a:ext cx="329184" cy="329184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8686800" y="4206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IndicTrans</a:t>
            </a:r>
            <a:endParaRPr lang="en-US" sz="1600" dirty="0"/>
          </a:p>
        </p:txBody>
      </p:sp>
      <p:sp>
        <p:nvSpPr>
          <p:cNvPr id="42" name="Text 36"/>
          <p:cNvSpPr/>
          <p:nvPr/>
        </p:nvSpPr>
        <p:spPr>
          <a:xfrm>
            <a:off x="8686800" y="4480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↔ English translation</a:t>
            </a:r>
            <a:endParaRPr lang="en-US" sz="1400" dirty="0"/>
          </a:p>
        </p:txBody>
      </p:sp>
      <p:pic>
        <p:nvPicPr>
          <p:cNvPr id="43" name="Image 4" descr="icons/robo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4919472"/>
            <a:ext cx="329184" cy="329184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8686800" y="48646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</a:t>
            </a:r>
            <a:endParaRPr lang="en-US" sz="1600" dirty="0"/>
          </a:p>
        </p:txBody>
      </p:sp>
      <p:sp>
        <p:nvSpPr>
          <p:cNvPr id="45" name="Text 38"/>
          <p:cNvSpPr/>
          <p:nvPr/>
        </p:nvSpPr>
        <p:spPr>
          <a:xfrm>
            <a:off x="8686800" y="51389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model training</a:t>
            </a:r>
            <a:endParaRPr lang="en-US" sz="1400" dirty="0"/>
          </a:p>
        </p:txBody>
      </p:sp>
      <p:sp>
        <p:nvSpPr>
          <p:cNvPr id="47" name="Text 40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EXPECTED OUTCOME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measure success — and what users get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47066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EF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3619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920240" y="1627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domains covered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20240" y="196596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+ Neurological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EF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53619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669280" y="1627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Languages supported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0" y="196596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English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EF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53619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418320" y="1627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18320" y="196596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Severity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9F6F4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34290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611880"/>
            <a:ext cx="548640" cy="5486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920240" y="3364992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920240" y="3675888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bilingual web app that takes symptom input and returns an explainable, confidence-scored, urgency-rated assessment — with safety guidance and nearby facility recommendations.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640" y="480060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F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49834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trust the model's output?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868680" y="530352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ships with a plain-language explanation and a confidence score — not just a label. Benchmarking against published literature and a dedicated severity-classification metric keeps the model accountable, while the rule-based override guarantees no high-risk case is ever missed by a model error.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2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COMMUNITY &amp; FUTURE SCOPE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those healthcare access forgets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039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Community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600200" y="23317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7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populations and people with limited healthcare access — especially non-English speakers currently underserved by existing English-only tools.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352044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icons/mic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685032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3611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600200" y="39776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7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voice-assistant mode is planned, extending access to users who face barriers with text-based or literacy-dependent interfaces.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903720" y="1828800"/>
            <a:ext cx="4709160" cy="4206240"/>
          </a:xfrm>
          <a:prstGeom prst="roundRect">
            <a:avLst>
              <a:gd name="adj" fmla="val 2609"/>
            </a:avLst>
          </a:prstGeom>
          <a:solidFill>
            <a:srgbClr val="0A3B41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0" y="2057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FACTS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223760" y="2423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223760" y="26974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AF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Learning, Deep Learning &amp; Data Science (NLP, Explainable AI, Machine Translation)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223760" y="3337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two conditions?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223760" y="36118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AF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and neurological complaints are the most common, high-impact symptom categories reported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7223760" y="4251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guarantee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7223760" y="45262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AF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cardiovascular patterns always trigger a medical-attention alert, independent of model confidence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223760" y="5166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223760" y="54406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AF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Picture-guided + free-text input in Hindi and English removes the literacy and language barrier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40080" y="6172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45720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777</Words>
  <Application>Microsoft Office PowerPoint</Application>
  <PresentationFormat>Widescreen</PresentationFormat>
  <Paragraphs>118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Sanya Bakshi</cp:lastModifiedBy>
  <cp:revision>2</cp:revision>
  <dcterms:created xsi:type="dcterms:W3CDTF">2026-08-05T18:01:49Z</dcterms:created>
  <dcterms:modified xsi:type="dcterms:W3CDTF">2026-08-05T18:25:46Z</dcterms:modified>
</cp:coreProperties>
</file>